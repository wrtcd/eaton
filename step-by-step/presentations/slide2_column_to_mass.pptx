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309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TEMPO: ground pixel, FOR center</a:t>
            </a:r>
          </a:p>
          <a:p>
            <a:pPr>
              <a:spcAft>
                <a:spcPts val="400"/>
              </a:spcAft>
              <a:defRPr sz="2200" b="1"/>
            </a:pPr>
            <a:r>
              <a:t>N–S: 2.00 km          E–W: 4.75 km</a:t>
            </a:r>
          </a:p>
          <a:p>
            <a:pPr>
              <a:spcAft>
                <a:spcPts val="400"/>
              </a:spcAft>
              <a:defRPr sz="2000" b="1"/>
            </a:pPr>
            <a:r>
              <a:t>Area = 2.00 km × 4.75 km  =  9.50 km²  =  9.50×10⁶  m²</a:t>
            </a:r>
          </a:p>
          <a:p>
            <a:pPr>
              <a:spcAft>
                <a:spcPts val="200"/>
              </a:spcAft>
              <a:defRPr sz="1800" b="0"/>
            </a:pPr>
            <a:r>
              <a:t>2.00 km = 2.00×10³ m          4.75 km = 4.75×10³ m</a:t>
            </a:r>
          </a:p>
          <a:p>
            <a:pPr>
              <a:spcAft>
                <a:spcPts val="200"/>
              </a:spcAft>
              <a:defRPr sz="1800" b="0"/>
            </a:pPr>
            <a:r>
              <a:t>2.00×10³ m × 4.75×10³ m  =  9.50×10⁶  m²</a:t>
            </a:r>
          </a:p>
          <a:p>
            <a:pPr>
              <a:spcAft>
                <a:spcPts val="400"/>
              </a:spcAft>
              <a:defRPr sz="2000" b="1"/>
            </a:pPr>
            <a:r>
              <a:t>1  m²  =  10⁴  cm²  →  9.50×10¹⁰  cm²</a:t>
            </a:r>
          </a:p>
          <a:p>
            <a:pPr>
              <a:spcAft>
                <a:spcPts val="0"/>
              </a:spcAft>
              <a:defRPr sz="1200" b="0"/>
            </a:pPr>
            <a:r>
              <a:t>tempo.si.edu/instrument  ·  33.5°N, 89.2°W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309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3200" b="1"/>
            </a:pPr>
            <a:r>
              <a:t>Reprojected study grid (this project)</a:t>
            </a:r>
          </a:p>
          <a:p>
            <a:pPr>
              <a:spcAft>
                <a:spcPts val="600"/>
              </a:spcAft>
              <a:defRPr sz="1200" b="0"/>
            </a:pPr>
            <a:r>
              <a:t>GeoTIFF: …/tempo_mass_no2_kg_per_pixel.tif  ·  EPSG:32611  ·  (easting × northing from affine)</a:t>
            </a:r>
          </a:p>
          <a:p>
            <a:pPr>
              <a:spcAft>
                <a:spcPts val="200"/>
              </a:spcAft>
              <a:defRPr sz="2000" b="1"/>
            </a:pPr>
            <a:r>
              <a:t>E–W (pixel, x):  3,218.37 m  =  3.2184 km</a:t>
            </a:r>
          </a:p>
          <a:p>
            <a:pPr>
              <a:spcAft>
                <a:spcPts val="400"/>
              </a:spcAft>
              <a:defRPr sz="2000" b="1"/>
            </a:pPr>
            <a:r>
              <a:t>N–S (pixel, y):  3,218.19 m  =  3.2182 km</a:t>
            </a:r>
          </a:p>
          <a:p>
            <a:pPr>
              <a:spcAft>
                <a:spcPts val="200"/>
              </a:spcAft>
              <a:defRPr sz="1900" b="1"/>
            </a:pPr>
            <a:r>
              <a:t>Area  =  E–W × N–S  =  3218.37 m × 3218.19 m  =  10,357,338.56  m²</a:t>
            </a:r>
          </a:p>
          <a:p>
            <a:pPr>
              <a:spcAft>
                <a:spcPts val="200"/>
              </a:spcAft>
              <a:defRPr sz="1800" b="0"/>
            </a:pPr>
            <a:r>
              <a:t>=  10.3573  km²  =  1.04×10⁷  m²</a:t>
            </a:r>
          </a:p>
          <a:p>
            <a:pPr>
              <a:spcAft>
                <a:spcPts val="400"/>
              </a:spcAft>
              <a:defRPr sz="2000" b="1"/>
            </a:pPr>
            <a:r>
              <a:t>1  m²  =  10⁴  cm²  →  1.0357×10¹¹  cm²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309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3200" b="1"/>
            </a:pPr>
            <a:r>
              <a:t>Column → mass</a:t>
            </a:r>
          </a:p>
          <a:p>
            <a:pPr>
              <a:spcAft>
                <a:spcPts val="200"/>
              </a:spcAft>
              <a:defRPr sz="1500" b="1"/>
            </a:pPr>
            <a:r>
              <a:t>Symbols  (TEMPO grid + plume product)</a:t>
            </a:r>
          </a:p>
          <a:p>
            <a:pPr>
              <a:spcAft>
                <a:spcPts val="0"/>
              </a:spcAft>
              <a:defRPr sz="1300" b="0"/>
            </a:pPr>
            <a:r>
              <a:t>σ   —  plume column  (fₚ·ΔVCD);  same kind of field as TEMPO VCD  (molec·cm⁻²)</a:t>
            </a:r>
          </a:p>
          <a:p>
            <a:pPr>
              <a:spcAft>
                <a:spcPts val="0"/>
              </a:spcAft>
              <a:defRPr sz="1300" b="0"/>
            </a:pPr>
            <a:r>
              <a:t>fₚ  —  mean Planet plume mask in that TEMPO cell  (0…1)  (step 04)</a:t>
            </a:r>
          </a:p>
          <a:p>
            <a:pPr>
              <a:spcAft>
                <a:spcPts val="0"/>
              </a:spcAft>
              <a:defRPr sz="1300" b="0"/>
            </a:pPr>
            <a:r>
              <a:t>ΔVCD  —  VCD  −  VCD_bg  (excess column after local background; step 07)</a:t>
            </a:r>
          </a:p>
          <a:p>
            <a:pPr>
              <a:spcAft>
                <a:spcPts val="0"/>
              </a:spcAft>
              <a:defRPr sz="1300" b="0"/>
            </a:pPr>
            <a:r>
              <a:t>A  —  ground footprint of one raster cell  (m²  →  cm²; reprojected GeoTIFF)</a:t>
            </a:r>
          </a:p>
          <a:p>
            <a:pPr>
              <a:spcAft>
                <a:spcPts val="600"/>
              </a:spcAft>
              <a:defRPr sz="1300" b="0"/>
            </a:pPr>
            <a:r>
              <a:t>Nₐ  —  Avogadro.        MNO₂  —  molar mass of  NO₂  (kg·mol⁻¹)</a:t>
            </a:r>
          </a:p>
          <a:p>
            <a:pPr>
              <a:spcAft>
                <a:spcPts val="400"/>
              </a:spcAft>
              <a:defRPr sz="2200" b="0"/>
            </a:pPr>
            <a:r>
              <a:t>σ = fₚ·ΔVCD  (molec·cm⁻²)</a:t>
            </a:r>
          </a:p>
          <a:p>
            <a:pPr>
              <a:spcAft>
                <a:spcPts val="600"/>
              </a:spcAft>
              <a:defRPr sz="2400" b="1"/>
            </a:pPr>
            <a:r>
              <a:t>m  (kg)  =  σ  ·  (A  in  cm²)  /  (Nₐ  ·  MNO₂)</a:t>
            </a:r>
          </a:p>
          <a:p>
            <a:pPr>
              <a:spcAft>
                <a:spcPts val="400"/>
              </a:spcAft>
              <a:defRPr sz="1500" b="0"/>
            </a:pPr>
            <a:r>
              <a:t>Nₐ = 6.02214076×10²³ mol⁻¹     MNO₂ = 0.0460055 kg·mol⁻¹</a:t>
            </a:r>
          </a:p>
          <a:p>
            <a:pPr>
              <a:spcAft>
                <a:spcPts val="0"/>
              </a:spcAft>
              <a:defRPr sz="1400" b="0"/>
            </a:pPr>
            <a:r>
              <a:t>e.g. max-mass cell:  σ  ≈  9.1×10¹⁶  molec·cm⁻²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800" b="1"/>
            </a:pPr>
            <a:r>
              <a:t>Reprojected grid: where are the max and weakest positive cells?</a:t>
            </a:r>
          </a:p>
          <a:p>
            <a:pPr>
              <a:spcAft>
                <a:spcPts val="0"/>
              </a:spcAft>
              <a:defRPr sz="1200"/>
            </a:pPr>
            <a:r>
              <a:t>Overview (WGS 84, kg NO₂ per cell) + zooms: same pixel area A; colors scale with σ = f_p·ΔVCD. Arrows: overview markers → insets.</a:t>
            </a:r>
          </a:p>
        </p:txBody>
      </p:sp>
      <p:pic>
        <p:nvPicPr>
          <p:cNvPr id="3" name="Picture 2" descr="max_mass_pixel_i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11338560" cy="70609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000" b="1"/>
            </a:pPr>
            <a:r>
              <a:t>Plume mask  (Planet fraction on TEMPO grid)</a:t>
            </a:r>
          </a:p>
          <a:p>
            <a:pPr>
              <a:spcAft>
                <a:spcPts val="1000"/>
              </a:spcAft>
              <a:defRPr sz="1400" b="0"/>
            </a:pPr>
            <a:r>
              <a:t>fₚ  from  …/tempo_fp_plume_utm11_clipped.tif  (step 04).  Range over pixels with  0 &lt; fₚ ≤ 1  (screened nodata removed).</a:t>
            </a:r>
          </a:p>
          <a:p>
            <a:pPr>
              <a:spcAft>
                <a:spcPts val="1200"/>
              </a:spcAft>
              <a:defRPr sz="2400" b="1"/>
            </a:pPr>
            <a:r>
              <a:t>min  fₚ  =  0.0007463                    max  fₚ  =  1</a:t>
            </a:r>
          </a:p>
          <a:p>
            <a:pPr>
              <a:spcAft>
                <a:spcPts val="0"/>
              </a:spcAft>
              <a:defRPr sz="2000" b="0"/>
            </a:pPr>
            <a:r>
              <a:t>max / min  =  1340  →  about  3.1  orders of magnitude  (log₁₀ of the ratio).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